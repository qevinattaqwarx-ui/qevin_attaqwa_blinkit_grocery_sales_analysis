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Bold"/>
      <p:regular r:id="rId201314"/>
    </p:embeddedFont>
    <p:embeddedFont>
      <p:font typeface="Bricolage Grotesque"/>
      <p:regular r:id="rId201315"/>
    </p:embeddedFont>
    <p:embeddedFont>
      <p:font typeface="Bricolage Grotesque SemiBold"/>
      <p:regular r:id="rId201316"/>
    </p:embeddedFont>
    <p:embeddedFont>
      <p:font typeface="Inter SemiBold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  <p:embeddedFont>
      <p:font typeface="Inter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824880"/>
            <a:ext cx="1906786" cy="188565"/>
          </a:xfrm>
          <a:prstGeom prst="roundRect">
            <a:avLst>
              <a:gd name="adj" fmla="val 22104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862087"/>
            <a:ext cx="221515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PORTFOLIO · 2026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063005"/>
            <a:ext cx="4722763" cy="1937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BlinkIT Business Analysis</a:t>
            </a:r>
            <a:endParaRPr lang="en-US" sz="2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400" i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Retail Sales &amp; Outlet Performance</a:t>
            </a:r>
            <a:endParaRPr lang="en-US" sz="2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SQL (MySQL) | Power BI</a:t>
            </a:r>
            <a:endParaRPr lang="en-US" sz="2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Qevin Attaqwa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3186782"/>
            <a:ext cx="4722763" cy="113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analysis of BlinkIT's grocery sales data using 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(MySQL)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transforming transactional data into actionable insights on sales performance, customer satisfaction, product contribution, and outlet characteristics.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6942"/>
            <a:ext cx="1147763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54149"/>
            <a:ext cx="145613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506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What This Analysis Covers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2865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portfolio project evaluates BlinkIT's business performance across six key dimensions, producing an interactive Power BI dashboard supported by SQL-based analysis and business recommendations.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765102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55" y="1893838"/>
            <a:ext cx="372070" cy="37207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996083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4855" y="238988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Performance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2658145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revenue, average sales, and item volume across outlet types and locations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33987" y="1765102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62723" y="1893838"/>
            <a:ext cx="372070" cy="37207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996083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2723" y="238988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2723" y="2658145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product ratings segmented by category, outlet type, and fat content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6119" y="3307779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4855" y="3436516"/>
            <a:ext cx="372070" cy="37207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538761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855" y="3932560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4855" y="420082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Top-performing categories by sales contribution, average sales, and item volume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33987" y="3307779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62723" y="3436516"/>
            <a:ext cx="372070" cy="37207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538761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62723" y="3932560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Outlet Analysis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62723" y="420082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outlet size, type, establishment year, and location tier on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5150"/>
            <a:ext cx="815429" cy="182538"/>
          </a:xfrm>
          <a:prstGeom prst="roundRect">
            <a:avLst>
              <a:gd name="adj" fmla="val 22120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68151" y="401166"/>
            <a:ext cx="1128564" cy="11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KPIS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594196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Business Performance at a Glance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144265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generated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1.20 million in total sales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8,523 items, with an average sales value of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140.99 per item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overall customer rating of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3.97 out of 5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indicates strong baseline satisfaction, while the gap to a perfect score signals opportunity for improvement.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1713681"/>
            <a:ext cx="4003104" cy="39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1.20M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496119" y="2257574"/>
            <a:ext cx="400310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2515121"/>
            <a:ext cx="400310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revenue generated from all items sold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4703" y="1713681"/>
            <a:ext cx="4003179" cy="39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140.99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644703" y="2257574"/>
            <a:ext cx="4003179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Avg. Sales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44703" y="2515121"/>
            <a:ext cx="4003179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revenue per item across all outlets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119" y="2997175"/>
            <a:ext cx="4003104" cy="39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8,523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496119" y="3541068"/>
            <a:ext cx="400310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Items Sold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119" y="3798615"/>
            <a:ext cx="400310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items recorded in the dataset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4703" y="2997175"/>
            <a:ext cx="4003179" cy="39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3.97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4644703" y="3541068"/>
            <a:ext cx="4003179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4703" y="3798615"/>
            <a:ext cx="4003179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rating out of 5 — a strong satisfaction baseline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4118744"/>
            <a:ext cx="8151763" cy="659532"/>
          </a:xfrm>
          <a:prstGeom prst="roundRect">
            <a:avLst>
              <a:gd name="adj" fmla="val 7653"/>
            </a:avLst>
          </a:prstGeom>
          <a:solidFill>
            <a:srgbClr val="F8ECD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23" y="4283794"/>
            <a:ext cx="150168" cy="1201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6495" y="4265116"/>
            <a:ext cx="7641282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KPIs serve as the benchmark for comparing outlet types, location tiers, product categories, and fat-content segments throughout the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3916"/>
            <a:ext cx="1055787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651123"/>
            <a:ext cx="136415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OUTLET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5204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Performance by Outlet Type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65151"/>
            <a:ext cx="3924598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54959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Supermarket Type 1 Dominates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28046" y="1867421"/>
            <a:ext cx="3924598" cy="130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Supermarket Type 1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generates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0.79 million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over 65% of total sales — supported by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5,577 items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highest item volume of any outlet type.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sales across outlet types are tightly clustered (139.80–141.68), indicating that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item volume, not average sales per item, is the primary differentiator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total sales performance.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28046" y="3281437"/>
            <a:ext cx="3924598" cy="107907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Grocery Stores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in customer rating at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3.99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Supermarket Type 2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achieves the highest average sales at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141.68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Supermarket Type 3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has the lowest rating at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3.95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target for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3438"/>
            <a:ext cx="705445" cy="13543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9548" y="390153"/>
            <a:ext cx="1055787" cy="82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&amp; SIZE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24470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Location Tier &amp; Outlet Size Impact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96119" y="963141"/>
            <a:ext cx="3967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by Location Tier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4477"/>
            <a:ext cx="3967163" cy="285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85481" y="963141"/>
            <a:ext cx="3967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by Outlet Size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481" y="1174477"/>
            <a:ext cx="3967163" cy="285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6119" y="4174108"/>
            <a:ext cx="815176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 3 locations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 the highest sales at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0.47 million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3,350 items, while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Medium-sized outlets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outperform High-sized ones at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0.51 million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0.25 million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 both cases, higher total sales are driven by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item volume, not higher average sales per item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Average sales are nearly identical across tiers (140.87–141.17) and sizes (139.88–142.04).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496119" y="4491261"/>
            <a:ext cx="8151763" cy="288801"/>
          </a:xfrm>
          <a:prstGeom prst="roundRect">
            <a:avLst>
              <a:gd name="adj" fmla="val 12966"/>
            </a:avLst>
          </a:prstGeom>
          <a:solidFill>
            <a:srgbClr val="F8ECD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67" y="4580483"/>
            <a:ext cx="111398" cy="891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5813" y="4577581"/>
            <a:ext cx="8230121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Bigger outlets and higher-tier locations do not automatically produce higher revenue — Higher total sales are primarily associated with higher item volume in this dataset.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3916"/>
            <a:ext cx="127947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651123"/>
            <a:ext cx="158784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CATEGORIES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5204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Top-Performing Product Categories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65151"/>
            <a:ext cx="3924598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54959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Volume Drives Category Leadership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28046" y="1867421"/>
            <a:ext cx="3924598" cy="181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Fruits and Vegetables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Snack Foods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total sales at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0.18 million each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supported by the highest item volumes — 1,232 and 1,200 items respectively.</a:t>
            </a:r>
            <a:endParaRPr lang="en-US" sz="9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Household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stands out on efficiency: it achieves the highest average sales at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149.42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maintains a strong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4.00 rating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despite lower item volume (910 items).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holds the highest customer rating at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4.02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Breads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the lowest at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3.88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category warranting quality review.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747266" cy="94283"/>
          </a:xfrm>
          <a:prstGeom prst="roundRect">
            <a:avLst>
              <a:gd name="adj" fmla="val 22103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326" y="359718"/>
            <a:ext cx="1130052" cy="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Contribution by Product Category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8107"/>
            <a:ext cx="8151763" cy="4564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5287863"/>
            <a:ext cx="815176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three categories —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Fruits &amp; Vegetables (14.82%)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Snack Foods (14.60%)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Household (11.32%)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collectively contribute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40.74% of total sales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concentration means the performance of a small number of major categories has a disproportionate impact on overall revenue. Maintaining strong inventory availability in these categories is critical to protecting BlinkIT's revenue base.</a:t>
            </a:r>
            <a:endParaRPr lang="en-US" sz="450" dirty="0"/>
          </a:p>
        </p:txBody>
      </p:sp>
      <p:sp>
        <p:nvSpPr>
          <p:cNvPr id="7" name="Shape 4"/>
          <p:cNvSpPr/>
          <p:nvPr/>
        </p:nvSpPr>
        <p:spPr>
          <a:xfrm>
            <a:off x="496119" y="5471368"/>
            <a:ext cx="8151763" cy="164157"/>
          </a:xfrm>
          <a:prstGeom prst="roundRect">
            <a:avLst>
              <a:gd name="adj" fmla="val 15869"/>
            </a:avLst>
          </a:prstGeom>
          <a:solidFill>
            <a:srgbClr val="F8ECD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5517803"/>
            <a:ext cx="77465" cy="619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557" y="5517803"/>
            <a:ext cx="834553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Low-contribution categories like Seafood (0.76%) should not be eliminated based on sales alone — strategic importance and customer demand must also be considered.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98587"/>
            <a:ext cx="1442442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635794"/>
            <a:ext cx="175081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3671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Customer Satisfaction vs. Sales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1029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ratings and sales performance do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move proportionally — the highest-rated products are not necessarily the highest-selling ones. These two dimensions should be evaluated independently when making assortment and promotional decisions.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46746"/>
            <a:ext cx="4013895" cy="1334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2085008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Highest-Rated Category: Meat — 4.02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35327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the best rating, Meat generates only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0.06 million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sales — far below top sellers. High satisfaction does not guarantee high volume.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946746"/>
            <a:ext cx="4013895" cy="1334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9398" y="2085008"/>
            <a:ext cx="36802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Highest-Selling Categories: F&amp;V &amp; Snack Foods — 0.18M Each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29398" y="2547119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categories lead in revenue but carry ratings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3.96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3.95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below Meat's 4.02. Volume and satisfaction are independent drivers.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04741"/>
            <a:ext cx="4013895" cy="11401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30" y="3543002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Lowest-Rated Category: Breads — 3.88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91530" y="3811265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Breads records the lowest rating in the dataset. This signals a potential quality, assortment, or customer-experience issue requiring investigation.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404741"/>
            <a:ext cx="4013895" cy="11401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29398" y="3543002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Highest-Rated Outlet: Grocery Stores — 3.99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29398" y="3811265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 Stores achieve the best outlet rating despite generating only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0.15 million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sales — far below Supermarket Type 1's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0.79 million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9151"/>
            <a:ext cx="1201489" cy="167878"/>
          </a:xfrm>
          <a:prstGeom prst="roundRect">
            <a:avLst>
              <a:gd name="adj" fmla="val 22112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2347" y="382265"/>
            <a:ext cx="1526232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 CONTENT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56320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Low Fat Products Generate Higher Sales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59818"/>
            <a:ext cx="3941118" cy="28368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1526" y="1147539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Low Fat Outperforms Regular Across Every Segment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11526" y="1418555"/>
            <a:ext cx="3941118" cy="151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Fat products generate 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 million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sales — nearly double Regular products at 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0.43 million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gap is driven by item volume: 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5,517 Low Fat items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3,006 Regular items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  <a:p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categories share an identical average rating of 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3.97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confirming that customer satisfaction does not differ meaningfully by fat content.</a:t>
            </a:r>
            <a:endParaRPr lang="en-US" sz="8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Fat dominance is consistent across all outlet types, with the largest gap in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Supermarket Type 1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0.51 million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(Low Fat) vs.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0.28 million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(Regular).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6119" y="4217938"/>
            <a:ext cx="8151763" cy="576411"/>
          </a:xfrm>
          <a:prstGeom prst="roundRect">
            <a:avLst>
              <a:gd name="adj" fmla="val 8050"/>
            </a:avLst>
          </a:prstGeom>
          <a:solidFill>
            <a:srgbClr val="F8ECD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49" y="4356795"/>
            <a:ext cx="138038" cy="1104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5018" y="4343921"/>
            <a:ext cx="768243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products still generate 0.43 million in sales and achieve higher average sales in several outlet types — maintain adequate Regular product availability alongside Low Fat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6312"/>
            <a:ext cx="846460" cy="164902"/>
          </a:xfrm>
          <a:prstGeom prst="roundRect">
            <a:avLst>
              <a:gd name="adj" fmla="val 22116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408831"/>
            <a:ext cx="1173435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79165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Strategic Recommendations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96119" y="1060772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6786" y="1081088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5223" y="1098054"/>
            <a:ext cx="78126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Prioritize Volume-Rich Segments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5223" y="1324496"/>
            <a:ext cx="781265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Supermarket Type 1, Tier 3 locations, Medium-sized outlets, and 2018-established outlets drive the highest sales through item volume — not higher per-item averages. Focus inventory planning accordingly.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1840037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86" y="1860352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5223" y="1877318"/>
            <a:ext cx="78126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Protect the Top Three 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5223" y="2103760"/>
            <a:ext cx="781265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Fruits &amp; Vegetables, Snack Foods, and Household contribute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40.74% of total sales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Ensure strong availability and consider targeted promotions to protect this revenue base.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6119" y="2619301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86" y="2639616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5223" y="2656582"/>
            <a:ext cx="78126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Monitor Satisfaction and Sales Separately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5223" y="2883024"/>
            <a:ext cx="781265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Meat leads in rating (4.02) but trails in sales. Use Grocery Stores'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3.99 rating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a benchmark and investigate Breads (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3.88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for quality or assortment improvements.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119" y="3398565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86" y="3418880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5223" y="3435846"/>
            <a:ext cx="78126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Prioritize Low Fat Availability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5223" y="3662288"/>
            <a:ext cx="781265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Fat products generate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 million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Regular's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0.43 million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Prioritize Low Fat inventory, especially in Supermarket Type 1, while maintaining Regular availability.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6119" y="4177829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86" y="419814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5223" y="4215110"/>
            <a:ext cx="78126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Adopt Segment-Specific Strategies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5223" y="4441552"/>
            <a:ext cx="781265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one-size-fits-all approaches. Tailor inventory, assortment, and experience strategies by outlet type, location tier, product category, and customer demand patterns.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2026-08-13T06:17:50Z</dcterms:created>
  <dcterms:modified xsi:type="dcterms:W3CDTF">2026-08-13T06:17:50Z</dcterms:modified>
</cp:coreProperties>
</file>